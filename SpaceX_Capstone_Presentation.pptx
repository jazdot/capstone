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2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3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charts/chart6.xml" ContentType="application/vnd.openxmlformats-officedocument.drawingml.chart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Success Rate</c:v>
                </c:pt>
              </c:strCache>
            </c:strRef>
          </c:tx>
          <c:spPr>
            <a:solidFill>
              <a:srgbClr val="0891B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Sheet1!$A$2:$A$12</c:f>
              <c:multiLvlStrCache>
                <c:ptCount val="11"/>
                <c:lvl>
                  <c:pt idx="0">
                    <c:v>LEO</c:v>
                  </c:pt>
                  <c:pt idx="1">
                    <c:v>ISS</c:v>
                  </c:pt>
                  <c:pt idx="2">
                    <c:v>GTO</c:v>
                  </c:pt>
                  <c:pt idx="3">
                    <c:v>GEO</c:v>
                  </c:pt>
                  <c:pt idx="4">
                    <c:v>SSO</c:v>
                  </c:pt>
                  <c:pt idx="5">
                    <c:v>VLEO</c:v>
                  </c:pt>
                  <c:pt idx="6">
                    <c:v>MEO</c:v>
                  </c:pt>
                  <c:pt idx="7">
                    <c:v>HEO</c:v>
                  </c:pt>
                  <c:pt idx="8">
                    <c:v>ES-L1</c:v>
                  </c:pt>
                  <c:pt idx="9">
                    <c:v>SO</c:v>
                  </c:pt>
                  <c:pt idx="10">
                    <c:v>PO</c:v>
                  </c:pt>
                </c:lvl>
              </c:multiLvlStrCache>
            </c:multiLvl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0.82</c:v>
                </c:pt>
                <c:pt idx="1">
                  <c:v>0.75</c:v>
                </c:pt>
                <c:pt idx="2">
                  <c:v>0.52</c:v>
                </c:pt>
                <c:pt idx="3">
                  <c:v>0.78</c:v>
                </c:pt>
                <c:pt idx="4">
                  <c:v>0.77</c:v>
                </c:pt>
                <c:pt idx="5">
                  <c:v>0.86</c:v>
                </c:pt>
                <c:pt idx="6">
                  <c:v>1</c:v>
                </c:pt>
                <c:pt idx="7">
                  <c:v>0</c:v>
                </c:pt>
                <c:pt idx="8">
                  <c:v>1</c:v>
                </c:pt>
                <c:pt idx="9">
                  <c:v>0</c:v>
                </c:pt>
                <c:pt idx="10">
                  <c:v>0.73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Failure (0)</c:v>
                </c:pt>
              </c:strCache>
            </c:strRef>
          </c:tx>
          <c:spPr>
            <a:solidFill>
              <a:srgbClr val="00B4D8"/>
            </a:solidFill>
            <a:ln w="25400" cap="flat">
              <a:solidFill>
                <a:srgbClr val="00B4D8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00B4D8"/>
              </a:solidFill>
              <a:ln w="9525" cap="flat">
                <a:solidFill>
                  <a:srgbClr val="00B4D8"/>
                </a:solidFill>
                <a:prstDash val="solid"/>
                <a:round/>
              </a:ln>
              <a:effectLst/>
            </c:spPr>
          </c:marker>
          <c:xVal>
            <c:numRef>
              <c:f>Sheet1!$A$2:$A$11</c:f>
              <c:numCache>
                <c:formatCode>General</c:formatCode>
                <c:ptCount val="10"/>
                <c:pt idx="0">
                  <c:v>[object Object]</c:v>
                </c:pt>
                <c:pt idx="1">
                  <c:v>[object Object]</c:v>
                </c:pt>
                <c:pt idx="2">
                  <c:v>[object Object]</c:v>
                </c:pt>
                <c:pt idx="3">
                  <c:v>[object Object]</c:v>
                </c:pt>
                <c:pt idx="4">
                  <c:v>[object Object]</c:v>
                </c:pt>
                <c:pt idx="5">
                  <c:v>[object Object]</c:v>
                </c:pt>
                <c:pt idx="6">
                  <c:v>[object Object]</c:v>
                </c:pt>
                <c:pt idx="7">
                  <c:v>[object Object]</c:v>
                </c:pt>
                <c:pt idx="8">
                  <c:v>[object Object]</c:v>
                </c:pt>
                <c:pt idx="9">
                  <c:v>[object Object]</c:v>
                </c:pt>
              </c:numCache>
            </c:numRef>
          </c:xVal>
          <c:yVal>
            <c:numRef>
              <c:f>Sheet1!$B$2:$B$11</c:f>
              <c:numCache>
                <c:formatCode>General</c:formatCode>
                <c:ptCount val="10"/>
                <c:pt idx="0">
                  <c:v>[object Object]</c:v>
                </c:pt>
                <c:pt idx="1">
                  <c:v>[object Object]</c:v>
                </c:pt>
                <c:pt idx="2">
                  <c:v>[object Object]</c:v>
                </c:pt>
                <c:pt idx="3">
                  <c:v>[object Object]</c:v>
                </c:pt>
                <c:pt idx="4">
                  <c:v>[object Object]</c:v>
                </c:pt>
                <c:pt idx="5">
                  <c:v>[object Object]</c:v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</c:numCache>
            </c:numRef>
          </c:yVal>
          <c:smooth val="0"/>
        </c:ser>
        <c:dLbls>
          <c:numFmt formatCode="General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</c:dLbls>
        <c:axId val="2094734554"/>
        <c:axId val="2094734552"/>
      </c:scatterChart>
      <c:valAx>
        <c:axId val="2094734554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1"/>
        <c:majorTickMark val="none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val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none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midCat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Success Rate</c:v>
                </c:pt>
              </c:strCache>
            </c:strRef>
          </c:tx>
          <c:spPr>
            <a:solidFill>
              <a:srgbClr val="1F4E79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F4E79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891B2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00B4D8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22C55E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14B8A6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v1.0</c:v>
                  </c:pt>
                  <c:pt idx="1">
                    <c:v>v1.1</c:v>
                  </c:pt>
                  <c:pt idx="2">
                    <c:v>FT</c:v>
                  </c:pt>
                  <c:pt idx="3">
                    <c:v>Block 4</c:v>
                  </c:pt>
                  <c:pt idx="4">
                    <c:v>Block 5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</c:v>
                </c:pt>
                <c:pt idx="1">
                  <c:v>0</c:v>
                </c:pt>
                <c:pt idx="2">
                  <c:v>0.65</c:v>
                </c:pt>
                <c:pt idx="3">
                  <c:v>0.57</c:v>
                </c:pt>
                <c:pt idx="4">
                  <c:v>0.87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800" b="0" i="0" u="none" strike="noStrike">
                <a:solidFill>
                  <a:srgbClr val="000000"/>
                </a:solidFill>
                <a:latin typeface="Arial"/>
              </a:rPr>
              <a:t>Launch Success (All Sites)</a:t>
            </a:r>
          </a:p>
        </c:rich>
      </c:tx>
      <c:layout/>
      <c:overlay val="0"/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Launch Outcome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0B4D8"/>
              </a:solidFill>
              <a:effectLst/>
            </c:spPr>
          </c:dPt>
          <c:dPt>
            <c:idx val="1"/>
            <c:bubble3D val="0"/>
            <c:spPr>
              <a:solidFill>
                <a:srgbClr val="EF4444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Success</c:v>
                </c:pt>
                <c:pt idx="1">
                  <c:v>Failure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63</c:v>
                </c:pt>
                <c:pt idx="1">
                  <c:v>37</c:v>
                </c:pt>
              </c:numCache>
            </c:numRef>
          </c:val>
        </c:ser>
        <c:firstSliceAng val="0"/>
      </c:pieChart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KSC LC-39A</c:v>
                </c:pt>
              </c:strCache>
            </c:strRef>
          </c:tx>
          <c:spPr>
            <a:solidFill>
              <a:srgbClr val="00B4D8"/>
            </a:solidFill>
            <a:ln w="25400" cap="flat">
              <a:solidFill>
                <a:srgbClr val="00B4D8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00B4D8"/>
              </a:solidFill>
              <a:ln w="9525" cap="flat">
                <a:solidFill>
                  <a:srgbClr val="00B4D8"/>
                </a:solidFill>
                <a:prstDash val="solid"/>
                <a:round/>
              </a:ln>
              <a:effectLst/>
            </c:spPr>
          </c:marker>
          <c:xVal>
            <c:numRef>
              <c:f>Sheet1!$A$2:$A$6</c:f>
              <c:numCache>
                <c:formatCode>General</c:formatCode>
                <c:ptCount val="5"/>
                <c:pt idx="0">
                  <c:v>[object Object]</c:v>
                </c:pt>
                <c:pt idx="1">
                  <c:v>[object Object]</c:v>
                </c:pt>
                <c:pt idx="2">
                  <c:v>[object Object]</c:v>
                </c:pt>
                <c:pt idx="3">
                  <c:v>[object Object]</c:v>
                </c:pt>
                <c:pt idx="4">
                  <c:v>[object Object]</c:v>
                </c:pt>
              </c:numCache>
            </c:numRef>
          </c:xVal>
          <c:yVal>
            <c:numRef>
              <c:f>Sheet1!$B$2:$B$6</c:f>
              <c:numCache>
                <c:formatCode>General</c:formatCode>
                <c:ptCount val="5"/>
                <c:pt idx="0">
                  <c:v>[object Object]</c:v>
                </c:pt>
                <c:pt idx="1">
                  <c:v>[object Object]</c:v>
                </c:pt>
                <c:pt idx="2">
                  <c:v>[object Object]</c:v>
                </c:pt>
                <c:pt idx="3">
                  <c:v>[object Object]</c:v>
                </c:pt>
                <c:pt idx="4">
                  <c:v>[object Object]</c:v>
                </c:pt>
              </c:numCache>
            </c:numRef>
          </c:yVal>
          <c:smooth val="0"/>
        </c:ser>
        <c:dLbls>
          <c:numFmt formatCode="General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</c:dLbls>
        <c:axId val="2094734554"/>
        <c:axId val="2094734552"/>
      </c:scatterChart>
      <c:valAx>
        <c:axId val="2094734554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D9D9D9"/>
              </a:solidFill>
              <a:prstDash val="solid"/>
              <a:round/>
            </a:ln>
          </c:spPr>
        </c:majorGridlines>
        <c:numFmt formatCode="General" sourceLinked="1"/>
        <c:majorTickMark val="none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val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none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midCat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800" b="0" i="0" u="none" strike="noStrike">
                <a:solidFill>
                  <a:srgbClr val="000000"/>
                </a:solidFill>
                <a:latin typeface="Arial"/>
              </a:rPr>
              <a:t>Test Accuracy (%)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Test Accuracy</c:v>
                </c:pt>
              </c:strCache>
            </c:strRef>
          </c:tx>
          <c:spPr>
            <a:solidFill>
              <a:srgbClr val="1F4E79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F4E79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891B2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00B4D8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94A3B8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Logistic Reg.</c:v>
                  </c:pt>
                  <c:pt idx="1">
                    <c:v>SVM</c:v>
                  </c:pt>
                  <c:pt idx="2">
                    <c:v>Decision Tree</c:v>
                  </c:pt>
                  <c:pt idx="3">
                    <c:v>KNN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83.33</c:v>
                </c:pt>
                <c:pt idx="1">
                  <c:v>83.33</c:v>
                </c:pt>
                <c:pt idx="2">
                  <c:v>83.33</c:v>
                </c:pt>
                <c:pt idx="3">
                  <c:v>77.78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90"/>
          <c:min val="7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chart" Target="/ppt/charts/chart5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6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97280" y="731520"/>
            <a:ext cx="45720" cy="45720"/>
          </a:xfrm>
          <a:prstGeom prst="ellipse">
            <a:avLst/>
          </a:prstGeom>
          <a:solidFill>
            <a:srgbClr val="90E0EF"/>
          </a:solidFill>
          <a:ln w="12700">
            <a:solidFill>
              <a:srgbClr val="90E0E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0" y="1005840"/>
            <a:ext cx="45720" cy="45720"/>
          </a:xfrm>
          <a:prstGeom prst="ellipse">
            <a:avLst/>
          </a:prstGeom>
          <a:solidFill>
            <a:srgbClr val="90E0EF"/>
          </a:solidFill>
          <a:ln w="12700">
            <a:solidFill>
              <a:srgbClr val="90E0E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583680" y="457200"/>
            <a:ext cx="45720" cy="45720"/>
          </a:xfrm>
          <a:prstGeom prst="ellipse">
            <a:avLst/>
          </a:prstGeom>
          <a:solidFill>
            <a:srgbClr val="90E0EF"/>
          </a:solidFill>
          <a:ln w="12700">
            <a:solidFill>
              <a:srgbClr val="90E0E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046720" y="1188720"/>
            <a:ext cx="45720" cy="45720"/>
          </a:xfrm>
          <a:prstGeom prst="ellipse">
            <a:avLst/>
          </a:prstGeom>
          <a:solidFill>
            <a:srgbClr val="90E0EF"/>
          </a:solidFill>
          <a:ln w="12700">
            <a:solidFill>
              <a:srgbClr val="90E0E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2103120"/>
            <a:ext cx="45720" cy="45720"/>
          </a:xfrm>
          <a:prstGeom prst="ellipse">
            <a:avLst/>
          </a:prstGeom>
          <a:solidFill>
            <a:srgbClr val="90E0EF"/>
          </a:solidFill>
          <a:ln w="12700">
            <a:solidFill>
              <a:srgbClr val="90E0E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0" y="274320"/>
            <a:ext cx="45720" cy="45720"/>
          </a:xfrm>
          <a:prstGeom prst="ellipse">
            <a:avLst/>
          </a:prstGeom>
          <a:solidFill>
            <a:srgbClr val="90E0EF"/>
          </a:solidFill>
          <a:ln w="12700">
            <a:solidFill>
              <a:srgbClr val="90E0E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321040" y="2560320"/>
            <a:ext cx="45720" cy="45720"/>
          </a:xfrm>
          <a:prstGeom prst="ellipse">
            <a:avLst/>
          </a:prstGeom>
          <a:solidFill>
            <a:srgbClr val="90E0EF"/>
          </a:solidFill>
          <a:ln w="12700">
            <a:solidFill>
              <a:srgbClr val="90E0E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560320" y="1371600"/>
            <a:ext cx="45720" cy="45720"/>
          </a:xfrm>
          <a:prstGeom prst="ellipse">
            <a:avLst/>
          </a:prstGeom>
          <a:solidFill>
            <a:srgbClr val="90E0EF"/>
          </a:solidFill>
          <a:ln w="12700">
            <a:solidFill>
              <a:srgbClr val="90E0E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760720" y="1920240"/>
            <a:ext cx="45720" cy="45720"/>
          </a:xfrm>
          <a:prstGeom prst="ellipse">
            <a:avLst/>
          </a:prstGeom>
          <a:solidFill>
            <a:srgbClr val="90E0EF"/>
          </a:solidFill>
          <a:ln w="12700">
            <a:solidFill>
              <a:srgbClr val="90E0E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749040" y="640080"/>
            <a:ext cx="45720" cy="45720"/>
          </a:xfrm>
          <a:prstGeom prst="ellipse">
            <a:avLst/>
          </a:prstGeom>
          <a:solidFill>
            <a:srgbClr val="90E0EF"/>
          </a:solidFill>
          <a:ln w="12700">
            <a:solidFill>
              <a:srgbClr val="90E0E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315200" y="822960"/>
            <a:ext cx="45720" cy="45720"/>
          </a:xfrm>
          <a:prstGeom prst="ellipse">
            <a:avLst/>
          </a:prstGeom>
          <a:solidFill>
            <a:srgbClr val="90E0EF"/>
          </a:solidFill>
          <a:ln w="12700">
            <a:solidFill>
              <a:srgbClr val="90E0E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554480" y="3474720"/>
            <a:ext cx="45720" cy="45720"/>
          </a:xfrm>
          <a:prstGeom prst="ellipse">
            <a:avLst/>
          </a:prstGeom>
          <a:solidFill>
            <a:srgbClr val="90E0EF"/>
          </a:solidFill>
          <a:ln w="12700">
            <a:solidFill>
              <a:srgbClr val="90E0E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686800" y="1554480"/>
            <a:ext cx="45720" cy="45720"/>
          </a:xfrm>
          <a:prstGeom prst="ellipse">
            <a:avLst/>
          </a:prstGeom>
          <a:solidFill>
            <a:srgbClr val="90E0EF"/>
          </a:solidFill>
          <a:ln w="12700">
            <a:solidFill>
              <a:srgbClr val="90E0E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22960" y="4114800"/>
            <a:ext cx="45720" cy="45720"/>
          </a:xfrm>
          <a:prstGeom prst="ellipse">
            <a:avLst/>
          </a:prstGeom>
          <a:solidFill>
            <a:srgbClr val="90E0EF"/>
          </a:solidFill>
          <a:ln w="12700">
            <a:solidFill>
              <a:srgbClr val="90E0E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" y="2377440"/>
            <a:ext cx="320040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1005840"/>
            <a:ext cx="7772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SpaceX Falcon 9</a:t>
            </a:r>
            <a:endParaRPr lang="en-US" sz="4800" dirty="0"/>
          </a:p>
        </p:txBody>
      </p:sp>
      <p:sp>
        <p:nvSpPr>
          <p:cNvPr id="18" name="Text 16"/>
          <p:cNvSpPr/>
          <p:nvPr/>
        </p:nvSpPr>
        <p:spPr>
          <a:xfrm>
            <a:off x="457200" y="182880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Stage Landing Prediction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457200" y="260604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IBM Data Science Professional Certificate — Applied Capstone Project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7132320" y="1371600"/>
            <a:ext cx="1463040" cy="3200400"/>
          </a:xfrm>
          <a:prstGeom prst="rect">
            <a:avLst/>
          </a:prstGeom>
          <a:solidFill>
            <a:srgbClr val="1F4E79"/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4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7132320" y="1005840"/>
            <a:ext cx="1463040" cy="64008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498080" y="4297680"/>
            <a:ext cx="731520" cy="54864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329184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Predicting successful rocket booster landings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optimize reusability and reduce launch costs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57200" y="46634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777240"/>
            <a:ext cx="8229600" cy="27432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960120"/>
            <a:ext cx="411480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960120"/>
            <a:ext cx="64008" cy="16916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069848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1435608"/>
            <a:ext cx="3749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whether the Falcon 9 first stage will land successfully, enabling cost estimation for launch services (~$62M vs $165M for competitors).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754880" y="960120"/>
            <a:ext cx="411480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54880" y="960120"/>
            <a:ext cx="64008" cy="16916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37760" y="1069848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937760" y="1435608"/>
            <a:ext cx="3749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SpaceX REST API &amp; web scraping → data wrangling → EDA (SQL + visualization) → interactive analytics → 4 ML classifiers.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65760" y="2880360"/>
            <a:ext cx="411480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65760" y="2880360"/>
            <a:ext cx="64008" cy="16916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2990088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48640" y="3355848"/>
            <a:ext cx="3749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Tree &amp; SVM achieved the best classification accuracy (~83.3%) on test data across launch success/failure scenarios.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754880" y="2880360"/>
            <a:ext cx="411480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754880" y="2880360"/>
            <a:ext cx="64008" cy="16916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937760" y="2990088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Value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937760" y="3355848"/>
            <a:ext cx="3749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Accurate landing prediction reduces financial risk for alternative launch providers competing with SpaceX's reusable rocket model.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777240"/>
            <a:ext cx="8229600" cy="27432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914400"/>
            <a:ext cx="5029200" cy="3977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100584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 &amp; Problem Statement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1463040"/>
            <a:ext cx="466344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800"/>
              </a:spcAft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SpaceX has revolutionized commercial spaceflight through reusable rocket technology. The Falcon 9 first stage is designed to return and land after each mission — dramatically cutting costs.</a:t>
            </a:r>
            <a:endParaRPr lang="en-US" sz="1150" dirty="0"/>
          </a:p>
          <a:p>
            <a:pPr indent="0" marL="0">
              <a:buNone/>
            </a:pPr>
            <a:r>
              <a:rPr lang="en-US" sz="11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</a:t>
            </a:r>
            <a:pPr indent="0" marL="0">
              <a:spcAft>
                <a:spcPts val="800"/>
              </a:spcAft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machine learning model to predict whether the first stage will land successfully, using publicly available launch data.</a:t>
            </a:r>
            <a:endParaRPr lang="en-US" sz="1150" dirty="0"/>
          </a:p>
          <a:p>
            <a:pPr indent="0" marL="0">
              <a:buNone/>
            </a:pPr>
            <a:r>
              <a:rPr lang="en-US" sz="11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Impact: </a:t>
            </a:r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competing company can use this model to bid against SpaceX by estimating rocket costs more accurately.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577840" y="914400"/>
            <a:ext cx="320040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669280" y="960120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$62M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6903720" y="987552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Falcon 9 launch cost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(with reuse)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577840" y="1920240"/>
            <a:ext cx="3200400" cy="868680"/>
          </a:xfrm>
          <a:prstGeom prst="rect">
            <a:avLst/>
          </a:prstGeom>
          <a:solidFill>
            <a:srgbClr val="F0F9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669280" y="1965960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$165M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6903720" y="1993392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Typical competitor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cost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577840" y="2926080"/>
            <a:ext cx="320040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669280" y="2971800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~60%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6903720" y="2999232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 first-stage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recovery rate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577840" y="3931920"/>
            <a:ext cx="3200400" cy="868680"/>
          </a:xfrm>
          <a:prstGeom prst="rect">
            <a:avLst/>
          </a:prstGeom>
          <a:solidFill>
            <a:srgbClr val="F0F9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669280" y="3977640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90+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6903720" y="4005072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Falcon 9 launches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dataset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Collection &amp; Wrangling — Methodology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777240"/>
            <a:ext cx="8229600" cy="27432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960120"/>
            <a:ext cx="196596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960120"/>
            <a:ext cx="196596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05156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57200" y="1508760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SpaceX REST API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457200" y="1965960"/>
            <a:ext cx="17830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Queried /launches endpoint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Falcon 9 missions.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Extracted payload, orbit,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site, booster data.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331720" y="2560320"/>
            <a:ext cx="182880" cy="0"/>
          </a:xfrm>
          <a:prstGeom prst="line">
            <a:avLst/>
          </a:prstGeom>
          <a:noFill/>
          <a:ln w="12700">
            <a:solidFill>
              <a:srgbClr val="00B4D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514600" y="960120"/>
            <a:ext cx="196596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514600" y="960120"/>
            <a:ext cx="1965960" cy="54864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560320" y="105156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2606040" y="1508760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Scraping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2606040" y="1965960"/>
            <a:ext cx="17830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BeautifulSoup scraping of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Wikipedia Falcon 9 launch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tables. Parsed HTML rows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into structured data.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480560" y="2560320"/>
            <a:ext cx="182880" cy="0"/>
          </a:xfrm>
          <a:prstGeom prst="line">
            <a:avLst/>
          </a:prstGeom>
          <a:noFill/>
          <a:ln w="12700">
            <a:solidFill>
              <a:srgbClr val="00B4D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663440" y="960120"/>
            <a:ext cx="196596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663440" y="960120"/>
            <a:ext cx="1965960" cy="54864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09160" y="105156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754880" y="1508760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Wrangling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4754880" y="1965960"/>
            <a:ext cx="17830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Handled missing values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(PayloadMass imputation).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Cast data types, filtered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Falcon 9 only flights.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629400" y="2560320"/>
            <a:ext cx="182880" cy="0"/>
          </a:xfrm>
          <a:prstGeom prst="line">
            <a:avLst/>
          </a:prstGeom>
          <a:noFill/>
          <a:ln w="12700">
            <a:solidFill>
              <a:srgbClr val="00B4D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812280" y="960120"/>
            <a:ext cx="196596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812280" y="960120"/>
            <a:ext cx="1965960" cy="54864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858000" y="105156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6903720" y="1508760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6903720" y="1965960"/>
            <a:ext cx="17830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Created binary landing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 (Class: 0/1).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Derived FlightNumber,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orbital features.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65760" y="4526280"/>
            <a:ext cx="8412480" cy="365760"/>
          </a:xfrm>
          <a:prstGeom prst="rect">
            <a:avLst/>
          </a:prstGeom>
          <a:solidFill>
            <a:srgbClr val="1B2A4A"/>
          </a:solidFill>
          <a:ln/>
        </p:spPr>
        <p:txBody>
          <a:bodyPr wrap="square" lIns="50800" tIns="0" rIns="10160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Dataset: ~90 Falcon 9 launches  |  18 features per record  |  Binary target: landing success (1) or failure (0)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&amp; Interactive Visual Analytics — Methodology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777240"/>
            <a:ext cx="8229600" cy="27432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960120"/>
            <a:ext cx="2697480" cy="3886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960120"/>
            <a:ext cx="2697480" cy="50292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987552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with SQL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02920" y="1627632"/>
            <a:ext cx="164592" cy="164592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49808" y="160020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Connected to Db2 database via ibm_db Python library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02920" y="2240280"/>
            <a:ext cx="164592" cy="164592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49808" y="2212848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 SELECT queries to explore launch outcomes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02920" y="2852928"/>
            <a:ext cx="164592" cy="164592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49808" y="2825496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Analyzed payload ranges, launch sites, orbit success rates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02920" y="3465576"/>
            <a:ext cx="164592" cy="164592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49808" y="3438144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Identified patterns across mission years and booster versions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246120" y="960120"/>
            <a:ext cx="2697480" cy="3886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246120" y="960120"/>
            <a:ext cx="2697480" cy="5029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383280" y="987552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Visualization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383280" y="1627632"/>
            <a:ext cx="164592" cy="164592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30168" y="160020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Matplotlib &amp; Seaborn for statistical charts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383280" y="2240280"/>
            <a:ext cx="164592" cy="164592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30168" y="2212848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Flight number vs. payload scatter plots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383280" y="2852928"/>
            <a:ext cx="164592" cy="164592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30168" y="2825496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success rate by orbit type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383280" y="3465576"/>
            <a:ext cx="164592" cy="164592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30168" y="3438144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Yearly launch trend &amp; success rate evolution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126480" y="960120"/>
            <a:ext cx="2697480" cy="3886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6126480" y="960120"/>
            <a:ext cx="2697480" cy="5029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263640" y="987552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Analytics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6263640" y="1627632"/>
            <a:ext cx="164592" cy="164592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510528" y="160020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Folium: interactive geospatial maps of launch sites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6263640" y="2240280"/>
            <a:ext cx="164592" cy="164592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510528" y="2212848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Proximity analysis: distance to coast, highway, city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6263640" y="2852928"/>
            <a:ext cx="164592" cy="164592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510528" y="2825496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Plotly Dash: interactive dashboard with dropdowns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6263640" y="3465576"/>
            <a:ext cx="164592" cy="164592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510528" y="3438144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Pie charts &amp; scatter plots for payload vs. success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Analysis — Methodology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777240"/>
            <a:ext cx="8229600" cy="27432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005840"/>
            <a:ext cx="548640" cy="64008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051560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1051560" y="1005840"/>
            <a:ext cx="758952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188720" y="1060704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Selection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474720" y="1060704"/>
            <a:ext cx="5029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OneHotEncoder on categorical columns (launch site, orbit). StandardScaler for numerical features.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" y="1965960"/>
            <a:ext cx="548640" cy="64008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2011680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1051560" y="1965960"/>
            <a:ext cx="758952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1188720" y="2020824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Train/Test Split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474720" y="2020824"/>
            <a:ext cx="5029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80/20 stratified split to maintain class balance. Class 1 (landing success) vs Class 0 (failure).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2926080"/>
            <a:ext cx="548640" cy="64008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2971800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1051560" y="2926080"/>
            <a:ext cx="758952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1188720" y="2980944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GridSearchCV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474720" y="2980944"/>
            <a:ext cx="5029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5-fold cross-validation with hyperparameter tuning on each classifier to find optimal model parameters.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65760" y="3886200"/>
            <a:ext cx="548640" cy="64008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5760" y="3931920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1051560" y="3886200"/>
            <a:ext cx="758952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1188720" y="3941064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Evaluation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474720" y="3941064"/>
            <a:ext cx="5029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score on test set. Confusion matrix visualization. Jaccard &amp; F1 scores for model comparison.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65760" y="481888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Classifiers Evaluated: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2468880" y="4754880"/>
            <a:ext cx="1463040" cy="301752"/>
          </a:xfrm>
          <a:prstGeom prst="rect">
            <a:avLst/>
          </a:prstGeom>
          <a:solidFill>
            <a:srgbClr val="1B2A4A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514600" y="477316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4114800" y="4754880"/>
            <a:ext cx="1463040" cy="301752"/>
          </a:xfrm>
          <a:prstGeom prst="rect">
            <a:avLst/>
          </a:prstGeom>
          <a:solidFill>
            <a:srgbClr val="1B2A4A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160520" y="477316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Vector Machine (SVM)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5760720" y="4754880"/>
            <a:ext cx="1463040" cy="301752"/>
          </a:xfrm>
          <a:prstGeom prst="rect">
            <a:avLst/>
          </a:prstGeom>
          <a:solidFill>
            <a:srgbClr val="1B2A4A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806440" y="477316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Tree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7406640" y="4754880"/>
            <a:ext cx="1463040" cy="301752"/>
          </a:xfrm>
          <a:prstGeom prst="rect">
            <a:avLst/>
          </a:prstGeom>
          <a:solidFill>
            <a:srgbClr val="1B2A4A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452360" y="477316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K-Nearest Neighbors (KNN)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with Visualization — Launch Success by Orbit &amp; Flight Number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777240"/>
            <a:ext cx="8229600" cy="27432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914400"/>
            <a:ext cx="475488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96012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 Rate by Orbit Type</a:t>
            </a:r>
            <a:endParaRPr lang="en-US" sz="12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411480" y="1325880"/>
          <a:ext cx="466344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Shape 5"/>
          <p:cNvSpPr/>
          <p:nvPr/>
        </p:nvSpPr>
        <p:spPr>
          <a:xfrm>
            <a:off x="5303520" y="914400"/>
            <a:ext cx="347472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5486400" y="987552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5486400" y="1481328"/>
            <a:ext cx="164592" cy="164592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742432" y="1444752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MEO &amp; ES-L1 orbits achieved 100% success rate (small samples)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5486400" y="2084832"/>
            <a:ext cx="164592" cy="164592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742432" y="2048256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GTO (Geostationary Transfer Orbit) had lowest success rate (~52%) — heavier payloads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5486400" y="2688336"/>
            <a:ext cx="164592" cy="164592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742432" y="265176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LEO missions showed ~82% success — most common orbit type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5486400" y="3291840"/>
            <a:ext cx="164592" cy="164592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742432" y="3255264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 rate improved notably after flight #20, indicating iterative improvement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5486400" y="3895344"/>
            <a:ext cx="164592" cy="164592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742432" y="3858768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flight numbers correlate with higher landing probability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with Visualization — Payload Mass &amp; Launch Site Analysis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777240"/>
            <a:ext cx="8229600" cy="27432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914400"/>
            <a:ext cx="4754880" cy="3886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96012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Payload Mass vs. Launch Outcome</a:t>
            </a:r>
            <a:endParaRPr lang="en-US" sz="12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411480" y="1325880"/>
          <a:ext cx="466344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Shape 5"/>
          <p:cNvSpPr/>
          <p:nvPr/>
        </p:nvSpPr>
        <p:spPr>
          <a:xfrm>
            <a:off x="5303520" y="914400"/>
            <a:ext cx="3474720" cy="3886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5486400" y="98755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Site Statistics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5486400" y="14447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KSC LC-39A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7315200" y="144475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77% success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5486400" y="1737360"/>
            <a:ext cx="2464308" cy="18288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7950708" y="1737360"/>
            <a:ext cx="736092" cy="182880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486400" y="22219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CCAFS SLC-40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7315200" y="222199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63% success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5486400" y="2514600"/>
            <a:ext cx="2016252" cy="18288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7502652" y="2514600"/>
            <a:ext cx="1184148" cy="182880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486400" y="299923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VAFB SLC-4E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7315200" y="299923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57% success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5486400" y="3291840"/>
            <a:ext cx="1824228" cy="18288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7310628" y="3291840"/>
            <a:ext cx="1376172" cy="182880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5486400" y="377647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CCAFS LC-40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7315200" y="377647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60% success</a:t>
            </a: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>
            <a:off x="5486400" y="4069080"/>
            <a:ext cx="1920240" cy="18288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7406640" y="4069080"/>
            <a:ext cx="1280160" cy="182880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365760" y="4572000"/>
            <a:ext cx="8412480" cy="411480"/>
          </a:xfrm>
          <a:prstGeom prst="rect">
            <a:avLst/>
          </a:prstGeom>
          <a:solidFill>
            <a:srgbClr val="1B2A4A"/>
          </a:solidFill>
          <a:ln/>
        </p:spPr>
        <p:txBody>
          <a:bodyPr wrap="square" lIns="50800" tIns="0" rIns="10160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insight: Heavier payloads (&gt;7,000 kg) correlate with failed landings;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KSC LC-39A has the highest success rate among all launch sites.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with SQL — Launch Site &amp; Payload Analysis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777240"/>
            <a:ext cx="8229600" cy="27432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914400"/>
            <a:ext cx="4389120" cy="1828800"/>
          </a:xfrm>
          <a:prstGeom prst="rect">
            <a:avLst/>
          </a:prstGeom>
          <a:solidFill>
            <a:srgbClr val="1A2332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02920" y="960120"/>
            <a:ext cx="41148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0E0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Unique launch sites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0E0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DISTINCT LAUNCH_SITE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0E0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SPACEXTBL;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0E0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Total payload per customer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0E0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CUSTOMER,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0E0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SUM(PAYLOAD_MASS__KG_) AS TOTAL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0E0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SPACEXTBL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0E0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GROUP BY CUSTOMER;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65760" y="2880360"/>
            <a:ext cx="438912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02920" y="2926080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Results — Unique Launch Sites</a:t>
            </a:r>
            <a:endParaRPr lang="en-US" sz="11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3246120"/>
          <a:ext cx="4297680" cy="1417320"/>
        </p:xfrm>
        <a:graphic>
          <a:graphicData uri="http://schemas.openxmlformats.org/drawingml/2006/table">
            <a:tbl>
              <a:tblPr/>
              <a:tblGrid>
                <a:gridCol w="2011680"/>
                <a:gridCol w="2286000"/>
              </a:tblGrid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LAUNCH_SITE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LOCATION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CCAFS LC-40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Cape Canaveral, FL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CCAFS SLC-40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Cape Canaveral, FL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KSC LC-39A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Kennedy Space Center, FL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VAFB SLC-4E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Vandenberg AFB, CA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Shape 7"/>
          <p:cNvSpPr/>
          <p:nvPr/>
        </p:nvSpPr>
        <p:spPr>
          <a:xfrm>
            <a:off x="4937760" y="914400"/>
            <a:ext cx="384048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937760" y="914400"/>
            <a:ext cx="64008" cy="11430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120640" y="960120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Query: Success count on ground pad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5120640" y="1325880"/>
            <a:ext cx="3474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successful launches at CCAFS SLC-40 ground pad (drone ship vs ground pad analysis)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4937760" y="2212848"/>
            <a:ext cx="3840480" cy="1143000"/>
          </a:xfrm>
          <a:prstGeom prst="rect">
            <a:avLst/>
          </a:prstGeom>
          <a:solidFill>
            <a:srgbClr val="F0F9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4937760" y="2212848"/>
            <a:ext cx="64008" cy="11430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120640" y="2258568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Query: Failed drone ship landings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5120640" y="2624328"/>
            <a:ext cx="3474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missions failed drone ship landings in the first 5 years of operations (2010–2016)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4937760" y="3511296"/>
            <a:ext cx="384048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4937760" y="3511296"/>
            <a:ext cx="64008" cy="11430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120640" y="3557016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Query: Max payload mass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5120640" y="3922776"/>
            <a:ext cx="3474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Maximum payload to date: ~15,600 kg — a Starlink mission on the FT booster variant</a:t>
            </a:r>
            <a:endParaRPr lang="en-US" sz="950" dirty="0"/>
          </a:p>
        </p:txBody>
      </p:sp>
      <p:sp>
        <p:nvSpPr>
          <p:cNvPr id="22" name="Shape 19"/>
          <p:cNvSpPr/>
          <p:nvPr/>
        </p:nvSpPr>
        <p:spPr>
          <a:xfrm>
            <a:off x="4937760" y="4809744"/>
            <a:ext cx="3840480" cy="3200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983480" y="481888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SQL queries executed covering all aspects of launch data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with SQL — Outcome &amp; Booster Version Analysis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777240"/>
            <a:ext cx="8229600" cy="27432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914400"/>
            <a:ext cx="5029200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02920" y="969264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Landing Outcomes Distribution (2010–2020)</a:t>
            </a:r>
            <a:endParaRPr lang="en-US" sz="12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325880"/>
          <a:ext cx="4937760" cy="1920240"/>
        </p:xfrm>
        <a:graphic>
          <a:graphicData uri="http://schemas.openxmlformats.org/drawingml/2006/table">
            <a:tbl>
              <a:tblPr/>
              <a:tblGrid>
                <a:gridCol w="3474720"/>
                <a:gridCol w="1463040"/>
              </a:tblGrid>
              <a:tr h="213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LANDING_OUTCOME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213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True ASDS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3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None None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3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True RTLS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3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False ASDS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3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True Ocean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3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False Ocean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3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None ASDS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3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Controlled (Ocean)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365760" y="3520440"/>
            <a:ext cx="5029200" cy="1371600"/>
          </a:xfrm>
          <a:prstGeom prst="rect">
            <a:avLst/>
          </a:prstGeom>
          <a:solidFill>
            <a:srgbClr val="1A2332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502920" y="3566160"/>
            <a:ext cx="47548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0E0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Rank landing outcomes 2010-2020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0E0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LANDING_OUTCOME, COUNT(*) AS COUNT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0E0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SPACEXTBL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0E0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DATE BETWEEN '2010-06-04' AND '2020-03-20'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0E0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GROUP BY LANDING_OUTCOME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0E0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 BY COUNT DESC;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5577840" y="914400"/>
            <a:ext cx="3200400" cy="3063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5669280" y="969264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Booster Version Success</a:t>
            </a:r>
            <a:endParaRPr lang="en-US" sz="1200" dirty="0"/>
          </a:p>
        </p:txBody>
      </p:sp>
      <p:graphicFrame>
        <p:nvGraphicFramePr>
          <p:cNvPr id="12" name="Chart 0" descr=""/>
          <p:cNvGraphicFramePr/>
          <p:nvPr/>
        </p:nvGraphicFramePr>
        <p:xfrm>
          <a:off x="5577840" y="1325880"/>
          <a:ext cx="3108960" cy="2514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3" name="Text 9"/>
          <p:cNvSpPr/>
          <p:nvPr/>
        </p:nvSpPr>
        <p:spPr>
          <a:xfrm>
            <a:off x="365760" y="4892040"/>
            <a:ext cx="8412480" cy="274320"/>
          </a:xfrm>
          <a:prstGeom prst="rect">
            <a:avLst/>
          </a:prstGeom>
          <a:solidFill>
            <a:srgbClr val="1B2A4A"/>
          </a:solidFill>
          <a:ln/>
        </p:spPr>
        <p:txBody>
          <a:bodyPr wrap="square" lIns="38100" tIns="0" rIns="7620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5 booster achieves 87% success rate — SpaceX's most advanced and reusable booster variant.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Map — Folium Launch Site Analysis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777240"/>
            <a:ext cx="8229600" cy="27432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914400"/>
            <a:ext cx="5120640" cy="3886200"/>
          </a:xfrm>
          <a:prstGeom prst="rect">
            <a:avLst/>
          </a:prstGeom>
          <a:solidFill>
            <a:srgbClr val="E8F4FD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005840"/>
            <a:ext cx="4937760" cy="3657600"/>
          </a:xfrm>
          <a:prstGeom prst="rect">
            <a:avLst/>
          </a:prstGeom>
          <a:solidFill>
            <a:srgbClr val="C8E6F5"/>
          </a:solidFill>
          <a:ln w="12700">
            <a:solidFill>
              <a:srgbClr val="90CAE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1371600"/>
            <a:ext cx="3474720" cy="2011680"/>
          </a:xfrm>
          <a:prstGeom prst="rect">
            <a:avLst/>
          </a:prstGeom>
          <a:solidFill>
            <a:srgbClr val="DCEDC8"/>
          </a:solidFill>
          <a:ln w="12700">
            <a:solidFill>
              <a:srgbClr val="A5D6A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389120" y="1645920"/>
            <a:ext cx="914400" cy="1371600"/>
          </a:xfrm>
          <a:prstGeom prst="rect">
            <a:avLst/>
          </a:prstGeom>
          <a:solidFill>
            <a:srgbClr val="DCEDC8"/>
          </a:solidFill>
          <a:ln w="12700">
            <a:solidFill>
              <a:srgbClr val="A5D6A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874520" y="2057400"/>
            <a:ext cx="274320" cy="274320"/>
          </a:xfrm>
          <a:prstGeom prst="ellipse">
            <a:avLst/>
          </a:prstGeom>
          <a:solidFill>
            <a:srgbClr val="22C55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176272" y="210312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KSC LC-39A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2148840" y="2423160"/>
            <a:ext cx="274320" cy="274320"/>
          </a:xfrm>
          <a:prstGeom prst="ellipse">
            <a:avLst/>
          </a:prstGeom>
          <a:solidFill>
            <a:srgbClr val="22C55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450592" y="246888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CCAFS SLC-40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685800" y="1783080"/>
            <a:ext cx="274320" cy="27432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87552" y="182880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VAFB SLC-4E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548640" y="4572000"/>
            <a:ext cx="4754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Folium Interactive Map (screenshot)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669280" y="914400"/>
            <a:ext cx="3108960" cy="3886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806440" y="987552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Geospatial Insights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806440" y="1444752"/>
            <a:ext cx="164592" cy="164592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062472" y="141732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Coastal Proximity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6062472" y="1719072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launch sites are within 20 km of coastline — critical for safe downrange trajectory.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5806440" y="2194560"/>
            <a:ext cx="164592" cy="164592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062472" y="216712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Highway Distance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6062472" y="246888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Sites located ~8–15 km from major highways for logistics while minimizing populated area risk.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5806440" y="2944368"/>
            <a:ext cx="164592" cy="164592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062472" y="2916936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City Distance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6062472" y="3218688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Minimum 25 km from city centers; VAFB 34 km from Santa Barbara.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5806440" y="3694176"/>
            <a:ext cx="164592" cy="164592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062472" y="3666744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Clustering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6062472" y="3968496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Florida sites (KSC &amp; CCAFS) are &lt;10 km apart, sharing infrastructure.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Plotly Dash — Interactive Dashboard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777240"/>
            <a:ext cx="8229600" cy="27432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914400"/>
            <a:ext cx="8412480" cy="38862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914400"/>
            <a:ext cx="8412480" cy="4572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9601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SpaceX Launch Dashboard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1463040"/>
            <a:ext cx="365760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148132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Launch Site: [ All Sites ▼ ]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4572000" y="148132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Payload Range (kg):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6217920" y="1572768"/>
            <a:ext cx="2377440" cy="914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graphicFrame>
        <p:nvGraphicFramePr>
          <p:cNvPr id="12" name="Chart 0" descr=""/>
          <p:cNvGraphicFramePr/>
          <p:nvPr/>
        </p:nvGraphicFramePr>
        <p:xfrm>
          <a:off x="457200" y="1920240"/>
          <a:ext cx="3474720" cy="2560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13" name="Chart 1" descr=""/>
          <p:cNvGraphicFramePr/>
          <p:nvPr/>
        </p:nvGraphicFramePr>
        <p:xfrm>
          <a:off x="4160520" y="1920240"/>
          <a:ext cx="4572000" cy="2560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Analysis — Classification Results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777240"/>
            <a:ext cx="8229600" cy="27432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914400"/>
            <a:ext cx="841248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960120"/>
          <a:ext cx="8321040" cy="1600200"/>
        </p:xfrm>
        <a:graphic>
          <a:graphicData uri="http://schemas.openxmlformats.org/drawingml/2006/table">
            <a:tbl>
              <a:tblPr/>
              <a:tblGrid>
                <a:gridCol w="2103120"/>
                <a:gridCol w="1920240"/>
                <a:gridCol w="1463040"/>
                <a:gridCol w="1463040"/>
                <a:gridCol w="1371600"/>
              </a:tblGrid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Classifier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Best Parameters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 Accuracy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Jaccard Score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F1 Score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Logistic Regression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C=0.01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891B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83.33%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Support Vector Machine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C=1, kernel=rbf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891B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83.33%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Decision Tree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max_depth=8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B4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83.33%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K-Nearest Neighbors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n_neighbors=7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77.78%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7" name="Chart 0" descr=""/>
          <p:cNvGraphicFramePr/>
          <p:nvPr/>
        </p:nvGraphicFramePr>
        <p:xfrm>
          <a:off x="365760" y="2788920"/>
          <a:ext cx="5029200" cy="2240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Shape 4"/>
          <p:cNvSpPr/>
          <p:nvPr/>
        </p:nvSpPr>
        <p:spPr>
          <a:xfrm>
            <a:off x="5577840" y="2788920"/>
            <a:ext cx="3200400" cy="2240280"/>
          </a:xfrm>
          <a:prstGeom prst="rect">
            <a:avLst/>
          </a:prstGeom>
          <a:solidFill>
            <a:srgbClr val="F0F9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Text 5"/>
          <p:cNvSpPr/>
          <p:nvPr/>
        </p:nvSpPr>
        <p:spPr>
          <a:xfrm>
            <a:off x="5669280" y="2852928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Tree — Confusion Matrix</a:t>
            </a:r>
            <a:endParaRPr lang="en-US" sz="1100" dirty="0"/>
          </a:p>
        </p:txBody>
      </p:sp>
      <p:graphicFrame>
        <p:nvGraphicFramePr>
          <p:cNvPr id="2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23560" y="3246120"/>
          <a:ext cx="3017520" cy="1371600"/>
        </p:xfrm>
        <a:graphic>
          <a:graphicData uri="http://schemas.openxmlformats.org/drawingml/2006/table">
            <a:tbl>
              <a:tblPr/>
              <a:tblGrid>
                <a:gridCol w="1005840"/>
                <a:gridCol w="1005840"/>
                <a:gridCol w="100584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Pred: 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E2E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2C5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Pred: 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Act: 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E2E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2C5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Act: 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2C5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1" name="Text 6"/>
          <p:cNvSpPr/>
          <p:nvPr/>
        </p:nvSpPr>
        <p:spPr>
          <a:xfrm>
            <a:off x="5623560" y="466344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 Positives: 13  |  True Negatives: 2  |  FP: 0  |  FN: 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Conclusions &amp; Key Takeaways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320040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051560"/>
            <a:ext cx="4114800" cy="1005840"/>
          </a:xfrm>
          <a:prstGeom prst="rect">
            <a:avLst/>
          </a:prstGeom>
          <a:solidFill>
            <a:srgbClr val="132035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051560"/>
            <a:ext cx="64008" cy="10058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30352" y="1124712"/>
            <a:ext cx="3794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Performance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30352" y="1435608"/>
            <a:ext cx="3794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classifiers (LR, SVM, Decision Tree) tied at 83.33% test accuracy. Decision Tree was most interpretable for stakeholders.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709160" y="1051560"/>
            <a:ext cx="4114800" cy="1005840"/>
          </a:xfrm>
          <a:prstGeom prst="rect">
            <a:avLst/>
          </a:prstGeom>
          <a:solidFill>
            <a:srgbClr val="132035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709160" y="1051560"/>
            <a:ext cx="64008" cy="10058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73752" y="1124712"/>
            <a:ext cx="3794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Importance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873752" y="1435608"/>
            <a:ext cx="3794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Flight number, payload mass, and orbit type are the strongest predictors of landing success. More flights = higher reliability.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65760" y="2221992"/>
            <a:ext cx="4114800" cy="1005840"/>
          </a:xfrm>
          <a:prstGeom prst="rect">
            <a:avLst/>
          </a:prstGeom>
          <a:solidFill>
            <a:srgbClr val="132035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2221992"/>
            <a:ext cx="64008" cy="10058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30352" y="2295144"/>
            <a:ext cx="3794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Matters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30352" y="2606040"/>
            <a:ext cx="3794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KSC LC-39A consistently outperforms other sites. Geographic and infrastructure advantages drive higher success rates.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709160" y="2221992"/>
            <a:ext cx="4114800" cy="1005840"/>
          </a:xfrm>
          <a:prstGeom prst="rect">
            <a:avLst/>
          </a:prstGeom>
          <a:solidFill>
            <a:srgbClr val="132035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709160" y="2221992"/>
            <a:ext cx="64008" cy="10058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73752" y="2295144"/>
            <a:ext cx="3794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Impact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873752" y="2606040"/>
            <a:ext cx="3794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competing launch provider can price competitively by predicting SpaceX reuse probability — potential savings of $60–100M per launch.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65760" y="3392424"/>
            <a:ext cx="4114800" cy="1005840"/>
          </a:xfrm>
          <a:prstGeom prst="rect">
            <a:avLst/>
          </a:prstGeom>
          <a:solidFill>
            <a:srgbClr val="132035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65760" y="3392424"/>
            <a:ext cx="64008" cy="10058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30352" y="3465576"/>
            <a:ext cx="3794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Work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30352" y="3776472"/>
            <a:ext cx="3794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 models, real-time telemetry integration, and multi-stage analysis could push accuracy above 90%.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709160" y="3392424"/>
            <a:ext cx="4114800" cy="1005840"/>
          </a:xfrm>
          <a:prstGeom prst="rect">
            <a:avLst/>
          </a:prstGeom>
          <a:solidFill>
            <a:srgbClr val="132035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709160" y="3392424"/>
            <a:ext cx="64008" cy="10058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73752" y="3465576"/>
            <a:ext cx="3794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Innovation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873752" y="3776472"/>
            <a:ext cx="3794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Combining NLP on mission descriptions with structured data may unlock hidden predictive signals.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0" y="4818888"/>
            <a:ext cx="9144000" cy="329184"/>
          </a:xfrm>
          <a:prstGeom prst="rect">
            <a:avLst/>
          </a:prstGeom>
          <a:solidFill>
            <a:srgbClr val="0D2741"/>
          </a:solidFill>
          <a:ln w="12700">
            <a:solidFill>
              <a:srgbClr val="0D274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74320" y="4828032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 |  SpaceX Falcon 9 Landing Prediction — IBM Data Science Capstone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SpaceX Falcon 9 First Stage Landing Prediction</dc:title>
  <dc:subject>PptxGenJS Presentation</dc:subject>
  <dc:creator>Data Science Capstone</dc:creator>
  <cp:lastModifiedBy>Data Science Capstone</cp:lastModifiedBy>
  <cp:revision>1</cp:revision>
  <dcterms:created xsi:type="dcterms:W3CDTF">2026-02-26T11:51:38Z</dcterms:created>
  <dcterms:modified xsi:type="dcterms:W3CDTF">2026-02-26T11:51:38Z</dcterms:modified>
</cp:coreProperties>
</file>